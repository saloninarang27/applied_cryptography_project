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4630400" cy="8229600"/>
  <p:notesSz cx="8229600" cy="146304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29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A1A1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A1A1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A1A1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A1A1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A1A1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632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Learning Reduced-Round Cipher Behavior using Machine Learning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5728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Testing how well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5 machine learning models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can learn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8 different ciphers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4667164"/>
            <a:ext cx="7556421" cy="359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5043249"/>
            <a:ext cx="3402330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👥</a:t>
            </a:r>
            <a:r>
              <a:rPr lang="en-US" sz="265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Team Members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93790" y="5816322"/>
            <a:ext cx="3664744" cy="1306949"/>
          </a:xfrm>
          <a:prstGeom prst="roundRect">
            <a:avLst>
              <a:gd name="adj" fmla="val 41653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60431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Saloni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0604" y="6533555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MT25081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5348" y="5816322"/>
            <a:ext cx="3664863" cy="1306949"/>
          </a:xfrm>
          <a:prstGeom prst="roundRect">
            <a:avLst>
              <a:gd name="adj" fmla="val 41653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4912162" y="60431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Amisha Patel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12162" y="6533555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MT25061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502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Project Architecture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5725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Four core components power the experiment pipeline: ciphers, models, training rounds, and evaluation metrics.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423636"/>
            <a:ext cx="4211122" cy="2749510"/>
          </a:xfrm>
          <a:prstGeom prst="roundRect">
            <a:avLst>
              <a:gd name="adj" fmla="val 7054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1009174" y="2639020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6934" y="2816662"/>
            <a:ext cx="290870" cy="2908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9174" y="34900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8 Ciphers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9174" y="3949422"/>
            <a:ext cx="3780353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AES, SIMON, SPECK, PRESENT, KATAN, XOODOO, TRIVIUM, TinyJAMBU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09580" y="2423636"/>
            <a:ext cx="4211122" cy="2749510"/>
          </a:xfrm>
          <a:prstGeom prst="roundRect">
            <a:avLst>
              <a:gd name="adj" fmla="val 7054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5424964" y="2639020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2724" y="2816662"/>
            <a:ext cx="290870" cy="2908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4964" y="34900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5 ML Models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24964" y="3949422"/>
            <a:ext cx="37803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Regression, MLP, CNN, MINE, Random Forest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625370" y="2423636"/>
            <a:ext cx="4211122" cy="2749510"/>
          </a:xfrm>
          <a:prstGeom prst="roundRect">
            <a:avLst>
              <a:gd name="adj" fmla="val 7054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9840754" y="2639020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8514" y="2816662"/>
            <a:ext cx="290870" cy="2908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0754" y="34900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Experiment Rounds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40754" y="3949422"/>
            <a:ext cx="37803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 to 5 reduced-round settings for testing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3790" y="5377815"/>
            <a:ext cx="13042702" cy="2077283"/>
          </a:xfrm>
          <a:prstGeom prst="roundRect">
            <a:avLst>
              <a:gd name="adj" fmla="val 9336"/>
            </a:avLst>
          </a:prstGeom>
          <a:solidFill>
            <a:srgbClr val="CEE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9174" y="5593199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84C1F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6934" y="5770840"/>
            <a:ext cx="290870" cy="29087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9174" y="644425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Evaluation Metrics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009174" y="6903601"/>
            <a:ext cx="1261193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Correct predictions per bit, number of different bits, training time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6521"/>
            <a:ext cx="4793813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Testing Ciphers and Models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341001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 evaluate how 5 machine learning models learn 8 ciphers.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1643301"/>
            <a:ext cx="7556421" cy="1315045"/>
          </a:xfrm>
          <a:prstGeom prst="roundRect">
            <a:avLst>
              <a:gd name="adj" fmla="val 10090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6427589" y="179070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C1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152" y="1912263"/>
            <a:ext cx="198953" cy="1989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7589" y="232862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8 Ciphers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27589" y="2616398"/>
            <a:ext cx="72616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AES, SIMON, SPECK, PRESENT, KATAN, XOODOO, TRIVIUM, TinyJAMBU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280190" y="3054072"/>
            <a:ext cx="7556421" cy="1315045"/>
          </a:xfrm>
          <a:prstGeom prst="roundRect">
            <a:avLst>
              <a:gd name="adj" fmla="val 10090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6427589" y="3201472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C1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9152" y="3323034"/>
            <a:ext cx="198953" cy="1989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27589" y="373939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5 ML Models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27589" y="4027170"/>
            <a:ext cx="72616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Regression, MLP, CNN, MINE, Random Forest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280190" y="4464844"/>
            <a:ext cx="7556421" cy="1315045"/>
          </a:xfrm>
          <a:prstGeom prst="roundRect">
            <a:avLst>
              <a:gd name="adj" fmla="val 10090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6427589" y="4612243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C1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152" y="4733806"/>
            <a:ext cx="198953" cy="1989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27589" y="515016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5 Rounds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427589" y="5437942"/>
            <a:ext cx="72616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Reduced-round settings from 1 to 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280190" y="5875615"/>
            <a:ext cx="7556421" cy="1315045"/>
          </a:xfrm>
          <a:prstGeom prst="roundRect">
            <a:avLst>
              <a:gd name="adj" fmla="val 10090"/>
            </a:avLst>
          </a:prstGeom>
          <a:solidFill>
            <a:srgbClr val="CEE6FD"/>
          </a:solidFill>
          <a:ln/>
        </p:spPr>
      </p:sp>
      <p:sp>
        <p:nvSpPr>
          <p:cNvPr id="21" name="Shape 15"/>
          <p:cNvSpPr/>
          <p:nvPr/>
        </p:nvSpPr>
        <p:spPr>
          <a:xfrm>
            <a:off x="6427589" y="6023015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4C1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9152" y="6144578"/>
            <a:ext cx="198953" cy="19895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27589" y="656093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What We Measure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427589" y="6848713"/>
            <a:ext cx="72616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Correct bits, different bits, and training time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280190" y="7298412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 compare leakage and learning behavior across ciphers, models, and rounds.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8174"/>
            <a:ext cx="6117431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Machine Learning Models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0218" y="1627108"/>
            <a:ext cx="1304996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 tested 5 machine learning approaches to see which could best learn cipher patterns.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0218" y="2217063"/>
            <a:ext cx="3125986" cy="3226713"/>
          </a:xfrm>
          <a:prstGeom prst="roundRect">
            <a:avLst>
              <a:gd name="adj" fmla="val 15601"/>
            </a:avLst>
          </a:prstGeom>
          <a:solidFill>
            <a:srgbClr val="5B7CFA"/>
          </a:solidFill>
          <a:ln/>
        </p:spPr>
      </p:sp>
      <p:sp>
        <p:nvSpPr>
          <p:cNvPr id="5" name="Text 3"/>
          <p:cNvSpPr/>
          <p:nvPr/>
        </p:nvSpPr>
        <p:spPr>
          <a:xfrm>
            <a:off x="993338" y="2420183"/>
            <a:ext cx="2695932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🧠 Logistic Regression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3338" y="2846784"/>
            <a:ext cx="271974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Linear classifier for pattern 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3338" y="3572232"/>
            <a:ext cx="271974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Fast and computationally efficient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3338" y="4297680"/>
            <a:ext cx="271974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Good baseline for cipher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98131" y="2217063"/>
            <a:ext cx="3126105" cy="3226713"/>
          </a:xfrm>
          <a:prstGeom prst="roundRect">
            <a:avLst>
              <a:gd name="adj" fmla="val 15601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301252" y="2420183"/>
            <a:ext cx="2719864" cy="634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🎯 Multi-Layer Perceptron (MLP)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01252" y="3164205"/>
            <a:ext cx="271986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Deep neural network with multiple layers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01252" y="3889653"/>
            <a:ext cx="271986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Captures non-linear cipher relationships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01252" y="4615101"/>
            <a:ext cx="271986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Highest accuracy but slower training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06164" y="2217063"/>
            <a:ext cx="3125986" cy="3226713"/>
          </a:xfrm>
          <a:prstGeom prst="roundRect">
            <a:avLst>
              <a:gd name="adj" fmla="val 15601"/>
            </a:avLst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7609284" y="2420183"/>
            <a:ext cx="2719745" cy="634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🧬 Convolutional Neural Network (CNN)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09284" y="3164205"/>
            <a:ext cx="271974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Specialized for spatial pattern 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09284" y="3889653"/>
            <a:ext cx="271974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Designed for local feature extraction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09284" y="4615101"/>
            <a:ext cx="271974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Underperformed on cipher tasks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714077" y="2217063"/>
            <a:ext cx="3126105" cy="3226713"/>
          </a:xfrm>
          <a:prstGeom prst="roundRect">
            <a:avLst>
              <a:gd name="adj" fmla="val 15601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17198" y="2420183"/>
            <a:ext cx="2719864" cy="952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🔍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MINE (Mutual Information Neural Estimation)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17198" y="3481626"/>
            <a:ext cx="271986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Information-theoretic approach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17198" y="4207073"/>
            <a:ext cx="271986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Measures statistical leakage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17198" y="4624388"/>
            <a:ext cx="271986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Complementary to other methods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0218" y="5625703"/>
            <a:ext cx="13049964" cy="1975604"/>
          </a:xfrm>
          <a:prstGeom prst="roundRect">
            <a:avLst>
              <a:gd name="adj" fmla="val 24686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93338" y="5828824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📊 Random Forest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93338" y="6255425"/>
            <a:ext cx="12643723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Ensemble of decision trees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93338" y="6672739"/>
            <a:ext cx="12643723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Robust and stable performance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93338" y="7090053"/>
            <a:ext cx="12643723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Excellent for complex pattern recognition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999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Cipher Types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95356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quick comparison of common lightweight and block cipher families by structure and block size.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412325"/>
            <a:ext cx="13042821" cy="4927283"/>
          </a:xfrm>
          <a:prstGeom prst="roundRect">
            <a:avLst>
              <a:gd name="adj" fmla="val 37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419945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602" y="2537698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Cipher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20420" y="2537698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Type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28647" y="2537698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Block Size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2965728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602" y="3083481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20420" y="3083481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28647" y="3083481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128-bit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3511510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602" y="3629263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SIMON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20420" y="3629263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Feistel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28647" y="3629263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32-bit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4057293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5602" y="4175046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SPECK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20420" y="4175046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ARX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28647" y="4175046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32-bit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1410" y="4603075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5602" y="4720828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PRESENT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20420" y="4720828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128647" y="4720828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64-bit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5148858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5602" y="5266611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KATAN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20420" y="5266611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NLFSR-based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128647" y="5266611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32-bit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1410" y="5694640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05602" y="5812393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XOODOO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20420" y="5812393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Round-based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28647" y="5812393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64-bit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01410" y="6240423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05602" y="6358176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TRIVIUM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20420" y="6358176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NLFSR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128647" y="6358176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64-bit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1410" y="6786205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05602" y="6903958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TinyJAMBU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20420" y="6903958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NLFSR-based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128647" y="6903958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64-bit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0091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AES: How It Works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382435"/>
            <a:ext cx="13042821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AES is a symmetric-key block cipher established by NIST in 2001.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829157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it works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305526"/>
            <a:ext cx="3659029" cy="162437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8550" y="2305526"/>
            <a:ext cx="60960" cy="1624370"/>
          </a:xfrm>
          <a:prstGeom prst="roundRect">
            <a:avLst>
              <a:gd name="adj" fmla="val 217674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002149" y="2468166"/>
            <a:ext cx="234755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1. </a:t>
            </a: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Sub-bytes (Substitution)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2149" y="2794278"/>
            <a:ext cx="3288030" cy="97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Every byte in the state is replaced using the S-BOX lookup table, providing confusion and making the key-ciphertext relationship complex.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48545" y="2305526"/>
            <a:ext cx="3659029" cy="162437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3305" y="2305526"/>
            <a:ext cx="60960" cy="1624370"/>
          </a:xfrm>
          <a:prstGeom prst="roundRect">
            <a:avLst>
              <a:gd name="adj" fmla="val 217674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4756904" y="2468166"/>
            <a:ext cx="241232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2. Shift-rows (Permutation)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6904" y="2794278"/>
            <a:ext cx="3288030" cy="97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Rows of the 4×4 state matrix are shifted left by different offsets (0, 1, 2, 3 bytes), spreading bytes across columns.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4025622"/>
            <a:ext cx="3659029" cy="162437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8550" y="4025622"/>
            <a:ext cx="60960" cy="1624370"/>
          </a:xfrm>
          <a:prstGeom prst="roundRect">
            <a:avLst>
              <a:gd name="adj" fmla="val 217674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2149" y="4188262"/>
            <a:ext cx="271867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3. Mix-columns (Linear Mixing)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2149" y="4514374"/>
            <a:ext cx="3288030" cy="97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Each column is transformed using Galois Field arithmetic, providing diffusion so single-bit changes spread to many output bits.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48545" y="4025622"/>
            <a:ext cx="3659029" cy="162437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33305" y="4025622"/>
            <a:ext cx="60960" cy="1624370"/>
          </a:xfrm>
          <a:prstGeom prst="roundRect">
            <a:avLst>
              <a:gd name="adj" fmla="val 217674"/>
            </a:avLst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6904" y="4188262"/>
            <a:ext cx="272129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4. Add-round-key (Key Mixing)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6904" y="4514374"/>
            <a:ext cx="3288030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state is XORed with the Round Key, where the secret key actually interacts with the data</a:t>
            </a:r>
            <a:r>
              <a:rPr lang="en-US" sz="14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5757743"/>
            <a:ext cx="741378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AES processes data in repeated rounds that combine substitution, permutation, mixing, and key addition to achieve strong security and efficient implementation.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6901" y="1841183"/>
            <a:ext cx="3425071" cy="4566761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574762" y="6515695"/>
            <a:ext cx="5269349" cy="876062"/>
          </a:xfrm>
          <a:prstGeom prst="roundRect">
            <a:avLst>
              <a:gd name="adj" fmla="val 15147"/>
            </a:avLst>
          </a:prstGeom>
          <a:solidFill>
            <a:srgbClr val="B5DAFC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162" y="6715601"/>
            <a:ext cx="184190" cy="14739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053751" y="6648212"/>
            <a:ext cx="4642961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Key sizes:</a:t>
            </a: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128, 192, 256 bits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Rounds:</a:t>
            </a: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10, 12, 14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Use:</a:t>
            </a: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NIST standard since 2001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62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AES Results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83876"/>
            <a:ext cx="10434161" cy="4275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922526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AES showed the strongest resistance of all the ciphers we tested. Round 1 accuracy was 70.30% with MLP, then it fell to about 50% by Round 5.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6346984"/>
            <a:ext cx="3151823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975241" y="65284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Top Model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75241" y="6898958"/>
            <a:ext cx="278892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MLP performed best, but was slowest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090749" y="6346984"/>
            <a:ext cx="3151823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4272201" y="65284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Simple Patterns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72201" y="6898958"/>
            <a:ext cx="278892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 matched MLP on simple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87709" y="6346984"/>
            <a:ext cx="3151823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7569160" y="65284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CNN Results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69160" y="6898958"/>
            <a:ext cx="278892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CNN was close to guessing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84669" y="6346984"/>
            <a:ext cx="3151942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5" name="Text 12"/>
          <p:cNvSpPr/>
          <p:nvPr/>
        </p:nvSpPr>
        <p:spPr>
          <a:xfrm>
            <a:off x="10866120" y="65284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Max Bit Difference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866120" y="6898958"/>
            <a:ext cx="278903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63.72 bits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79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SIMON Cipher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203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lightweight block cipher built for speed in hardware.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2346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it works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83059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83059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What it does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2524" y="45783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Splits data into two halves and scrambles them round by round.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383059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6482" y="383059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step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65696" y="45783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Uses rotations, AND, and XOR to mix the bits.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40133" y="383059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9653" y="383059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9988868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 setup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88868" y="45783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Creates round keys with simple rotations and XOR.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590157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Performance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8087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723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SIMON Performance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14488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SIMON shows stronger early-round learning than AES, with accuracy declining more gradually over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38945"/>
            <a:ext cx="10434161" cy="42754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6477595"/>
            <a:ext cx="4250769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975241" y="665904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75241" y="7029569"/>
            <a:ext cx="388786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MLP reaches 93.65%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89696" y="6477595"/>
            <a:ext cx="4250888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5371148" y="665904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By Round 5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71148" y="7029569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Accuracy drops to around 50%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585722" y="6477595"/>
            <a:ext cx="4250888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9767173" y="6659047"/>
            <a:ext cx="289024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Best on Hamming Distance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67173" y="7029569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MLP performs best, but is slowest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985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SPECK Cipher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62698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SPECK is a software-friendly lightweight ARX cipher built for fast, efficient implementation.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269295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it works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80190" y="3458408"/>
            <a:ext cx="36647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49710" y="345840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8" name="Text 5"/>
          <p:cNvSpPr/>
          <p:nvPr/>
        </p:nvSpPr>
        <p:spPr>
          <a:xfrm>
            <a:off x="6628924" y="3715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Block Structure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28924" y="4206121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32-bit block is split into two 16-bit words.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71748" y="3458408"/>
            <a:ext cx="36648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41268" y="3458408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2" name="Text 9"/>
          <p:cNvSpPr/>
          <p:nvPr/>
        </p:nvSpPr>
        <p:spPr>
          <a:xfrm>
            <a:off x="10520482" y="3715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Function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520482" y="4206121"/>
            <a:ext cx="30588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Each round applies rotate-add-xor transformations.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80190" y="5416034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9710" y="5416034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6" name="Text 13"/>
          <p:cNvSpPr/>
          <p:nvPr/>
        </p:nvSpPr>
        <p:spPr>
          <a:xfrm>
            <a:off x="6628924" y="5673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 Schedule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28924" y="6163747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Key expansion generates a subkey for every round.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171748" y="5416034"/>
            <a:ext cx="36648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141268" y="5416034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20" name="Text 17"/>
          <p:cNvSpPr/>
          <p:nvPr/>
        </p:nvSpPr>
        <p:spPr>
          <a:xfrm>
            <a:off x="10520482" y="5673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Learning Effect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520482" y="6163747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More rounds increase diffusion and make the cipher harder to learn.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85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SPECK Analysis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4932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How model accuracy and Hamming distance change as SPECK rounds increase.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34277"/>
            <a:ext cx="9129951" cy="374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5700236"/>
            <a:ext cx="3177302" cy="1754386"/>
          </a:xfrm>
          <a:prstGeom prst="roundRect">
            <a:avLst>
              <a:gd name="adj" fmla="val 8145"/>
            </a:avLst>
          </a:prstGeom>
          <a:solidFill>
            <a:srgbClr val="D8AFF8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6650" y="5723096"/>
            <a:ext cx="3131582" cy="476250"/>
          </a:xfrm>
          <a:prstGeom prst="roundRect">
            <a:avLst>
              <a:gd name="adj" fmla="val 24246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2263378" y="581239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75360" y="63104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1 Peak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5360" y="6625114"/>
            <a:ext cx="281416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Random Forest reaches </a:t>
            </a:r>
            <a:r>
              <a:rPr lang="en-US" sz="12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79.91%</a:t>
            </a: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accuracy, showing SPECK still contains learnable patterns.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82177" y="5700236"/>
            <a:ext cx="3177421" cy="1754386"/>
          </a:xfrm>
          <a:prstGeom prst="roundRect">
            <a:avLst>
              <a:gd name="adj" fmla="val 8145"/>
            </a:avLst>
          </a:prstGeom>
          <a:solidFill>
            <a:srgbClr val="D8AFF8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05037" y="5723096"/>
            <a:ext cx="3131701" cy="476250"/>
          </a:xfrm>
          <a:prstGeom prst="roundRect">
            <a:avLst>
              <a:gd name="adj" fmla="val 24246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5551765" y="581239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2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63747" y="63104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Accuracy Decline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63747" y="6625114"/>
            <a:ext cx="281428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Accuracy drops as rounds increase, approaching </a:t>
            </a:r>
            <a:r>
              <a:rPr lang="en-US" sz="12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50%</a:t>
            </a: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by Round 5 — close to random guessing.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370683" y="5700236"/>
            <a:ext cx="3177421" cy="1754386"/>
          </a:xfrm>
          <a:prstGeom prst="roundRect">
            <a:avLst>
              <a:gd name="adj" fmla="val 8145"/>
            </a:avLst>
          </a:prstGeom>
          <a:solidFill>
            <a:srgbClr val="D8AFF8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93543" y="5723096"/>
            <a:ext cx="3131701" cy="476250"/>
          </a:xfrm>
          <a:prstGeom prst="roundRect">
            <a:avLst>
              <a:gd name="adj" fmla="val 24246"/>
            </a:avLst>
          </a:prstGeom>
          <a:solidFill>
            <a:srgbClr val="CEE6FD"/>
          </a:solidFill>
          <a:ln/>
        </p:spPr>
      </p:sp>
      <p:sp>
        <p:nvSpPr>
          <p:cNvPr id="17" name="Text 14"/>
          <p:cNvSpPr/>
          <p:nvPr/>
        </p:nvSpPr>
        <p:spPr>
          <a:xfrm>
            <a:off x="8840272" y="581239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3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552253" y="63104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Hamming Distance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52253" y="6625114"/>
            <a:ext cx="281428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It rises steadily with rounds, confirming stronger diffusion and improved cipher security.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659189" y="5700236"/>
            <a:ext cx="3177421" cy="1754386"/>
          </a:xfrm>
          <a:prstGeom prst="roundRect">
            <a:avLst>
              <a:gd name="adj" fmla="val 8145"/>
            </a:avLst>
          </a:prstGeom>
          <a:solidFill>
            <a:srgbClr val="D8AFF8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82049" y="5723096"/>
            <a:ext cx="3131701" cy="476250"/>
          </a:xfrm>
          <a:prstGeom prst="roundRect">
            <a:avLst>
              <a:gd name="adj" fmla="val 24246"/>
            </a:avLst>
          </a:prstGeom>
          <a:solidFill>
            <a:srgbClr val="CEE6FD"/>
          </a:solidFill>
          <a:ln/>
        </p:spPr>
      </p:sp>
      <p:sp>
        <p:nvSpPr>
          <p:cNvPr id="22" name="Text 19"/>
          <p:cNvSpPr/>
          <p:nvPr/>
        </p:nvSpPr>
        <p:spPr>
          <a:xfrm>
            <a:off x="12128778" y="581239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4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840760" y="63104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 Insight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840760" y="6625114"/>
            <a:ext cx="281428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More rounds make SPECK harder to learn.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698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PRESENT Cipher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49742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PRESENT</a:t>
            </a: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is an ultra-lightweight SPN cipher designed for constrained hardware, with a compact implementation optimized for minimal area and low power consumption, making it well suited for IoT and embedded systems.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29032"/>
            <a:ext cx="4359831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PRESENT Works</a:t>
            </a:r>
            <a:endParaRPr lang="en-US"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57485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3910489"/>
            <a:ext cx="310717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407908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AddRoundKey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4538424"/>
            <a:ext cx="3107174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XOR the plaintext with the round key to introduce the secret key material into the cipher state.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05632" y="357485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05632" y="3910489"/>
            <a:ext cx="310717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4105632" y="407908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S-box Layer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05632" y="4538424"/>
            <a:ext cx="3107174" cy="201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Apply a 4-bit S-box substitution to each nibble, adding non-linearity and confusion so the relationship between input and output becomes harder to predict.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17475" y="357485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17475" y="3910489"/>
            <a:ext cx="310717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7417475" y="407908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Permutation Layer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17475" y="4538424"/>
            <a:ext cx="3107174" cy="201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Rearrange bit positions to spread changes across the block, providing diffusion so that a single-bit change influences multiple output bits in later rounds.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729317" y="357485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04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729317" y="3910489"/>
            <a:ext cx="310729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10729317" y="407908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Repeat + Final Round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29317" y="4538424"/>
            <a:ext cx="3107293" cy="201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Run 31 rounds total, with the last round omitting the permutation layer to optimize the final step while still preserving the cipher structure.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7023735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endParaRPr lang="en-US"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247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PRESENT: Leaks Fast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09725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PRESENT is a lightweight SPN cipher that looks strong at first, but its performance drops sharply as rounds increase.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88594"/>
            <a:ext cx="362914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Why the Drop?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23103"/>
            <a:ext cx="6118860" cy="25072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62048" y="2759869"/>
            <a:ext cx="5212675" cy="2833688"/>
          </a:xfrm>
          <a:prstGeom prst="roundRect">
            <a:avLst>
              <a:gd name="adj" fmla="val 9221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943499" y="2923103"/>
            <a:ext cx="4849773" cy="1957626"/>
          </a:xfrm>
          <a:prstGeom prst="roundRect">
            <a:avLst>
              <a:gd name="adj" fmla="val 8343"/>
            </a:avLst>
          </a:prstGeom>
          <a:solidFill>
            <a:srgbClr val="B5DA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3136106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89889" y="31136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Why the Drop?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589889" y="3542228"/>
            <a:ext cx="4021931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Round 1: Patterns exposed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Round 2+: Bits get mixed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More rounds = stronger cipher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Model fails fast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93790" y="5811203"/>
            <a:ext cx="3946803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Performance Snapshot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93790" y="6482477"/>
            <a:ext cx="4250769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13" name="Text 9"/>
          <p:cNvSpPr/>
          <p:nvPr/>
        </p:nvSpPr>
        <p:spPr>
          <a:xfrm>
            <a:off x="975241" y="66639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96.40%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75241" y="7034451"/>
            <a:ext cx="388786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Highest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189696" y="6482477"/>
            <a:ext cx="4250888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16" name="Text 12"/>
          <p:cNvSpPr/>
          <p:nvPr/>
        </p:nvSpPr>
        <p:spPr>
          <a:xfrm>
            <a:off x="5371148" y="66639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Cliff Drop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371148" y="7034451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96% → 50%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585722" y="6482477"/>
            <a:ext cx="4250888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19" name="Text 15"/>
          <p:cNvSpPr/>
          <p:nvPr/>
        </p:nvSpPr>
        <p:spPr>
          <a:xfrm>
            <a:off x="9767173" y="66639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Divergence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767173" y="7034451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Grows with rounds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16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KATAN Cipher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440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KATAN is a lightweight, hardware-oriented block cipher built for constrained devices.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4711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it works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454247"/>
            <a:ext cx="3090505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4454247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4711541"/>
            <a:ext cx="24844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Register Structure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2524" y="5201960"/>
            <a:ext cx="24844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Input state split into two registers (L1, L2)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1109" y="4454247"/>
            <a:ext cx="309062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80629" y="4454247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4459843" y="4711541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Updates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59843" y="5201960"/>
            <a:ext cx="24845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Uses XOR, AND, shifts, and IR sequence bits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8548" y="4454247"/>
            <a:ext cx="309062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8067" y="4454247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7282" y="4711541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 Injection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7282" y="5201960"/>
            <a:ext cx="24845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Two key bits injected per update step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45986" y="4454247"/>
            <a:ext cx="309062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15506" y="4454247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4720" y="4711541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Update Steps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094720" y="5201960"/>
            <a:ext cx="2484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Many update steps grouped into each round level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66405"/>
            <a:ext cx="10434161" cy="42754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25946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KATAN Performance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6044089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KATAN’s results show strong initial accuracy, then a sharp decline as rounds increase—alongside steadily rising Hamming distance.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6468547"/>
            <a:ext cx="4250769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975241" y="66499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72% Accuracy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75241" y="7020520"/>
            <a:ext cx="388786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 starts strong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89696" y="6468547"/>
            <a:ext cx="4250888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5371148" y="66499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Accuracy Drops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71148" y="7020520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Slides to 50% by Round 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585722" y="6468547"/>
            <a:ext cx="4250888" cy="994648"/>
          </a:xfrm>
          <a:prstGeom prst="roundRect">
            <a:avLst>
              <a:gd name="adj" fmla="val 16420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9767173" y="66499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Hamming Rises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67173" y="7020520"/>
            <a:ext cx="388798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Distance climbs with rounds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60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XOODOO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184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Xoodoo is a 384-bit permutation core built on iterative mixing and non-linear transformations.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436501"/>
            <a:ext cx="3090505" cy="3137059"/>
          </a:xfrm>
          <a:prstGeom prst="roundRect">
            <a:avLst>
              <a:gd name="adj" fmla="val 660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466981"/>
            <a:ext cx="3029545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1051084" y="4374237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State Structure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4864656"/>
            <a:ext cx="257591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State is arranged as lanes in a 3×4 structure.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1109" y="3436501"/>
            <a:ext cx="3090624" cy="3137059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41589" y="3466981"/>
            <a:ext cx="302966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4368403" y="4374237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Operations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68403" y="4864656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Each round applies Theta, Rho, Iota, Chi, and Pi-like operations.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548" y="3436501"/>
            <a:ext cx="3090624" cy="3137059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9027" y="3466981"/>
            <a:ext cx="302966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14" name="Text 12"/>
          <p:cNvSpPr/>
          <p:nvPr/>
        </p:nvSpPr>
        <p:spPr>
          <a:xfrm>
            <a:off x="7685842" y="4374237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Security Constant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5842" y="4864656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Round constants break symmetry and stabilize security.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745986" y="3436501"/>
            <a:ext cx="3090624" cy="3137059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76466" y="3466981"/>
            <a:ext cx="302966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18" name="Text 16"/>
          <p:cNvSpPr/>
          <p:nvPr/>
        </p:nvSpPr>
        <p:spPr>
          <a:xfrm>
            <a:off x="11003280" y="4374237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Output Mapping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03280" y="4864656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This project maps plaintext/key into state and extracts 64-bit output.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75203"/>
            <a:ext cx="11086386" cy="4542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463540"/>
            <a:ext cx="4221956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XOODOO Performance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6191250"/>
            <a:ext cx="3137773" cy="1363147"/>
          </a:xfrm>
          <a:prstGeom prst="roundRect">
            <a:avLst>
              <a:gd name="adj" fmla="val 12730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986552" y="6384012"/>
            <a:ext cx="2409944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95.46%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🔥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6552" y="6791087"/>
            <a:ext cx="275224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 peaks in Round 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095393" y="6191250"/>
            <a:ext cx="3137892" cy="1363147"/>
          </a:xfrm>
          <a:prstGeom prst="roundRect">
            <a:avLst>
              <a:gd name="adj" fmla="val 12730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4288155" y="638401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Sharp Cliff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8155" y="6783467"/>
            <a:ext cx="275236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Accuracy drops as rounds increase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97115" y="6191250"/>
            <a:ext cx="3137773" cy="1363147"/>
          </a:xfrm>
          <a:prstGeom prst="roundRect">
            <a:avLst>
              <a:gd name="adj" fmla="val 12730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7589877" y="638401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Rising Hamming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89877" y="6783467"/>
            <a:ext cx="275224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Distance grows, showing stronger diffusion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698718" y="6191250"/>
            <a:ext cx="3137892" cy="1363147"/>
          </a:xfrm>
          <a:prstGeom prst="roundRect">
            <a:avLst>
              <a:gd name="adj" fmla="val 12730"/>
            </a:avLst>
          </a:prstGeom>
          <a:solidFill>
            <a:srgbClr val="CEE6FD"/>
          </a:solidFill>
          <a:ln/>
        </p:spPr>
      </p:sp>
      <p:sp>
        <p:nvSpPr>
          <p:cNvPr id="14" name="Text 11"/>
          <p:cNvSpPr/>
          <p:nvPr/>
        </p:nvSpPr>
        <p:spPr>
          <a:xfrm>
            <a:off x="10891480" y="638401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CNN Struggles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891480" y="6783467"/>
            <a:ext cx="275236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Near random guessing; Logistic Regression dominates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4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TRIVIUM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628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Stream-cipher design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with non-linear register feedback and progressive diffusion.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780949"/>
            <a:ext cx="3090505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780949"/>
            <a:ext cx="121920" cy="244804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038243"/>
            <a:ext cx="24844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it works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4528661"/>
            <a:ext cx="24844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Multiple interacting registers evolve step by step.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1109" y="3780949"/>
            <a:ext cx="3090624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0629" y="3780949"/>
            <a:ext cx="121920" cy="244804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4459843" y="4038243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Update rule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59843" y="4528661"/>
            <a:ext cx="2484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XOR, AND, and rotations combine to produce new state.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548" y="3780949"/>
            <a:ext cx="3090624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8067" y="3780949"/>
            <a:ext cx="121920" cy="244804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7282" y="4038243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Diffusion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7282" y="4528661"/>
            <a:ext cx="2484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Each step feeds non-linear terms into the next state.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745986" y="3780949"/>
            <a:ext cx="3090624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15506" y="3780949"/>
            <a:ext cx="121920" cy="244804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094720" y="4038243"/>
            <a:ext cx="2484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Performance impact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94720" y="4882991"/>
            <a:ext cx="2484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Higher rounds significantly reduce predictive leakage.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891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TRIVIUM Results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96164"/>
            <a:ext cx="10434161" cy="42754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6134814"/>
            <a:ext cx="3151823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975241" y="631626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📈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78% Round 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75241" y="6686788"/>
            <a:ext cx="278892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All models learn well in early rounds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090749" y="6134814"/>
            <a:ext cx="3151823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4272201" y="631626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⚡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Sharp Drop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72201" y="6686788"/>
            <a:ext cx="278892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Accuracy falls to 50% by Round 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87709" y="6134814"/>
            <a:ext cx="3151823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7569160" y="631626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📊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Rising Hamming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69160" y="6686788"/>
            <a:ext cx="278892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Distance increases with rounds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684669" y="6134814"/>
            <a:ext cx="3151942" cy="1255871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4" name="Text 11"/>
          <p:cNvSpPr/>
          <p:nvPr/>
        </p:nvSpPr>
        <p:spPr>
          <a:xfrm>
            <a:off x="10866120" y="631626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🤖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CNN Weak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866120" y="6686788"/>
            <a:ext cx="278903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Near random guessing; Logistic Regression &amp; MLP lead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6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TinyJAMBU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730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TinyJAMBU is a lightweight AEAD design built around non-linear feedback state updates.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7615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How it works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483293"/>
            <a:ext cx="3090505" cy="3128486"/>
          </a:xfrm>
          <a:prstGeom prst="roundRect">
            <a:avLst>
              <a:gd name="adj" fmla="val 660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3513773"/>
            <a:ext cx="3029545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1051084" y="4421029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128-bit state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4911447"/>
            <a:ext cx="257591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Maintains a compact internal state for efficient processing.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1109" y="3483293"/>
            <a:ext cx="3090624" cy="3128486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1589" y="3513773"/>
            <a:ext cx="302966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4368403" y="4421029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Key-controlled feedback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68403" y="5265777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Uses the secret key to influence each update step.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8548" y="3483293"/>
            <a:ext cx="3090624" cy="3128486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9027" y="3513773"/>
            <a:ext cx="302966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15" name="Text 13"/>
          <p:cNvSpPr/>
          <p:nvPr/>
        </p:nvSpPr>
        <p:spPr>
          <a:xfrm>
            <a:off x="7685842" y="4421029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Non-linear mixing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5842" y="4911447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XOR and AND operations drive the state transitions.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45986" y="3483293"/>
            <a:ext cx="3090624" cy="3128486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6466" y="3513773"/>
            <a:ext cx="302966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19" name="Text 17"/>
          <p:cNvSpPr/>
          <p:nvPr/>
        </p:nvSpPr>
        <p:spPr>
          <a:xfrm>
            <a:off x="11003280" y="4421029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Round-dependent output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003280" y="5265777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More rounds increase mixing depth and randomness.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695194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483"/>
            <a:ext cx="432875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All Models Comparison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35906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Compare the full set of models side by side to quickly see the differences in scale, performance, and trade-offs.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76901"/>
            <a:ext cx="9129951" cy="374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784532"/>
            <a:ext cx="371415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TinyJAMBU Performance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6348055"/>
            <a:ext cx="3177302" cy="1064062"/>
          </a:xfrm>
          <a:prstGeom prst="roundRect">
            <a:avLst>
              <a:gd name="adj" fmla="val 13430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952500" y="650676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🚀</a:t>
            </a: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High Learnability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2500" y="6821448"/>
            <a:ext cx="285988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Models achieve strong accuracy in early rounds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082177" y="6348055"/>
            <a:ext cx="3177421" cy="1064062"/>
          </a:xfrm>
          <a:prstGeom prst="roundRect">
            <a:avLst>
              <a:gd name="adj" fmla="val 13430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4240887" y="650676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📉</a:t>
            </a: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Gradual Decline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40887" y="6821448"/>
            <a:ext cx="286000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Accuracy decreases steadily as rounds increase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70683" y="6348055"/>
            <a:ext cx="3177421" cy="1064062"/>
          </a:xfrm>
          <a:prstGeom prst="roundRect">
            <a:avLst>
              <a:gd name="adj" fmla="val 13430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7529393" y="650676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📈</a:t>
            </a: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Hamming Growth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29393" y="6821448"/>
            <a:ext cx="2860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Distance rises with complexity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659189" y="6348055"/>
            <a:ext cx="3177421" cy="1064062"/>
          </a:xfrm>
          <a:prstGeom prst="roundRect">
            <a:avLst>
              <a:gd name="adj" fmla="val 13430"/>
            </a:avLst>
          </a:prstGeom>
          <a:solidFill>
            <a:srgbClr val="CEE6FD"/>
          </a:solidFill>
          <a:ln/>
        </p:spPr>
      </p:sp>
      <p:sp>
        <p:nvSpPr>
          <p:cNvPr id="16" name="Text 13"/>
          <p:cNvSpPr/>
          <p:nvPr/>
        </p:nvSpPr>
        <p:spPr>
          <a:xfrm>
            <a:off x="10817900" y="650676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🏆</a:t>
            </a: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Model Winners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817900" y="6821448"/>
            <a:ext cx="286000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 and MLP perform best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2263"/>
            <a:ext cx="8691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Model Performance Comparison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112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How each machine learning model performed across all ciphers tested.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629257"/>
            <a:ext cx="3090505" cy="3104317"/>
          </a:xfrm>
          <a:prstGeom prst="roundRect">
            <a:avLst>
              <a:gd name="adj" fmla="val 6606"/>
            </a:avLst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2856071"/>
            <a:ext cx="26368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🏆 MLP: Highest Accuracy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604" y="3700820"/>
            <a:ext cx="26368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Best results but slower training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1109" y="2629257"/>
            <a:ext cx="3090624" cy="3104317"/>
          </a:xfrm>
          <a:prstGeom prst="roundRect">
            <a:avLst>
              <a:gd name="adj" fmla="val 6605"/>
            </a:avLst>
          </a:prstGeom>
          <a:solidFill>
            <a:srgbClr val="FF4FA3"/>
          </a:solidFill>
          <a:ln/>
        </p:spPr>
      </p:sp>
      <p:sp>
        <p:nvSpPr>
          <p:cNvPr id="8" name="Text 6"/>
          <p:cNvSpPr/>
          <p:nvPr/>
        </p:nvSpPr>
        <p:spPr>
          <a:xfrm>
            <a:off x="4337923" y="2856071"/>
            <a:ext cx="263699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⚙️ Logistic Regression: Most Efficient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37923" y="4055150"/>
            <a:ext cx="26369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Matched MLP on linear patterns, computationally efficient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2629257"/>
            <a:ext cx="3090624" cy="3104317"/>
          </a:xfrm>
          <a:prstGeom prst="roundRect">
            <a:avLst>
              <a:gd name="adj" fmla="val 6605"/>
            </a:avLst>
          </a:prstGeom>
          <a:solidFill>
            <a:srgbClr val="8E44AD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2856071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🌲</a:t>
            </a: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Random Forest: Most Stable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55362" y="3700820"/>
            <a:ext cx="26369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Best on SPECK, consistent across ciphers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745986" y="2629257"/>
            <a:ext cx="3090624" cy="3104317"/>
          </a:xfrm>
          <a:prstGeom prst="roundRect">
            <a:avLst>
              <a:gd name="adj" fmla="val 6605"/>
            </a:avLst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0" y="2856071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🔍 MINE: Middle Tier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0" y="3700820"/>
            <a:ext cx="26369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Complementary leakage estimates, middle performance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5960388"/>
            <a:ext cx="13042821" cy="1306949"/>
          </a:xfrm>
          <a:prstGeom prst="roundRect">
            <a:avLst>
              <a:gd name="adj" fmla="val 15620"/>
            </a:avLst>
          </a:prstGeom>
          <a:solidFill>
            <a:srgbClr val="22C1C3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6187202"/>
            <a:ext cx="31302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🧠 CNN: Least Effective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0604" y="6677620"/>
            <a:ext cx="1258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Underperformed, 5-10% below best model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08184"/>
            <a:ext cx="9129951" cy="4578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453539"/>
            <a:ext cx="820900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All Ciphers vs All Models: Complete Analysis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6116360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See how all 8 ciphers perform across all 5 machine learning models in one comprehensive view. Watch accuracy drop and Hamming distance rise as rounds increase.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6457355"/>
            <a:ext cx="3177302" cy="1064062"/>
          </a:xfrm>
          <a:prstGeom prst="roundRect">
            <a:avLst>
              <a:gd name="adj" fmla="val 13430"/>
            </a:avLst>
          </a:prstGeom>
          <a:solidFill>
            <a:srgbClr val="2ECC71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661606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🔓 Early Rounds Leak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2500" y="6930747"/>
            <a:ext cx="285988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All ciphers show learnable patterns in Round 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082177" y="6457355"/>
            <a:ext cx="3177421" cy="1064062"/>
          </a:xfrm>
          <a:prstGeom prst="roundRect">
            <a:avLst>
              <a:gd name="adj" fmla="val 1343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4240887" y="661606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🛡️ Diffusion Wins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40887" y="6930747"/>
            <a:ext cx="2860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More rounds = stronger security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70683" y="6457355"/>
            <a:ext cx="3177421" cy="1064062"/>
          </a:xfrm>
          <a:prstGeom prst="roundRect">
            <a:avLst>
              <a:gd name="adj" fmla="val 13430"/>
            </a:avLst>
          </a:prstGeom>
          <a:solidFill>
            <a:srgbClr val="8E44AD"/>
          </a:solidFill>
          <a:ln/>
        </p:spPr>
      </p:sp>
      <p:sp>
        <p:nvSpPr>
          <p:cNvPr id="12" name="Text 9"/>
          <p:cNvSpPr/>
          <p:nvPr/>
        </p:nvSpPr>
        <p:spPr>
          <a:xfrm>
            <a:off x="7529393" y="661606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📊</a:t>
            </a: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Model Hierarchy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29393" y="6930747"/>
            <a:ext cx="2860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MLP and Logistic Regression dominate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59189" y="6457355"/>
            <a:ext cx="3177421" cy="1064062"/>
          </a:xfrm>
          <a:prstGeom prst="roundRect">
            <a:avLst>
              <a:gd name="adj" fmla="val 13430"/>
            </a:avLst>
          </a:prstGeom>
          <a:solidFill>
            <a:srgbClr val="22C1C3"/>
          </a:solidFill>
          <a:ln/>
        </p:spPr>
      </p:sp>
      <p:sp>
        <p:nvSpPr>
          <p:cNvPr id="15" name="Text 12"/>
          <p:cNvSpPr/>
          <p:nvPr/>
        </p:nvSpPr>
        <p:spPr>
          <a:xfrm>
            <a:off x="10817900" y="661606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🤖 CNN Struggles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817900" y="6930747"/>
            <a:ext cx="286000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Consistently underperforms across all ciphers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786" y="705207"/>
            <a:ext cx="3470910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Cipher Learnability Ranking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5786" y="1140023"/>
            <a:ext cx="13478828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Ciphers ranked by Round 1 accuracy - from most to least learnable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5786" y="1322546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1026" y="1337786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24614" y="1587818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062" y="1444704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🔴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PRESENT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062" y="1649611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1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96.40%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9062" y="1805702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Highest learnability from 4-bit S-box insufficiency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5786" y="2104073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1026" y="2119313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724614" y="2369344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9062" y="2226231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🔴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XOODOO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69062" y="2431137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2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95.46%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69062" y="2587228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Very high linear learnability from single permutation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5786" y="2885599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026" y="2900839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14" y="3150870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69062" y="3007757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🔴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SIMON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69062" y="3212663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3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93.65%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69062" y="3368754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 learnability from slow Feistel diffusion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5786" y="3667125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F4D0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026" y="3682365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F4D03F"/>
          </a:solidFill>
          <a:ln/>
        </p:spPr>
      </p:sp>
      <p:sp>
        <p:nvSpPr>
          <p:cNvPr id="24" name="Text 22"/>
          <p:cNvSpPr/>
          <p:nvPr/>
        </p:nvSpPr>
        <p:spPr>
          <a:xfrm>
            <a:off x="724614" y="3932396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69062" y="3789283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🟡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SPECK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69062" y="3994190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4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79.91%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69062" y="4150281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Moderate-high; ensemble methods outperformed others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5786" y="4448651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F4D0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1026" y="4463891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F4D03F"/>
          </a:solidFill>
          <a:ln/>
        </p:spPr>
      </p:sp>
      <p:sp>
        <p:nvSpPr>
          <p:cNvPr id="30" name="Text 28"/>
          <p:cNvSpPr/>
          <p:nvPr/>
        </p:nvSpPr>
        <p:spPr>
          <a:xfrm>
            <a:off x="724614" y="4713923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5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9062" y="4570809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🟡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Trivium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69062" y="4775716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5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78.16%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69062" y="4931807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 linear leakage from partial NLFSR initialization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75786" y="5230178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7DCE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1026" y="5245418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7DCEA0"/>
          </a:solidFill>
          <a:ln/>
        </p:spPr>
      </p:sp>
      <p:sp>
        <p:nvSpPr>
          <p:cNvPr id="36" name="Text 34"/>
          <p:cNvSpPr/>
          <p:nvPr/>
        </p:nvSpPr>
        <p:spPr>
          <a:xfrm>
            <a:off x="724614" y="5495449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6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69062" y="5352336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🟢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KATAN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69062" y="5557242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6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72.04%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69062" y="5713333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Moderate, near-perfect uniformity across all models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75786" y="6011704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7DCE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1026" y="6026944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7DCEA0"/>
          </a:solidFill>
          <a:ln/>
        </p:spPr>
      </p:sp>
      <p:sp>
        <p:nvSpPr>
          <p:cNvPr id="42" name="Text 40"/>
          <p:cNvSpPr/>
          <p:nvPr/>
        </p:nvSpPr>
        <p:spPr>
          <a:xfrm>
            <a:off x="724614" y="6276975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7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69062" y="6133862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🟢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TinyJAMBU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69062" y="6338768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7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71.89%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69062" y="6494859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Moderate, uniformly distributed across models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75786" y="6793230"/>
            <a:ext cx="13478828" cy="731163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15240">
            <a:solidFill>
              <a:srgbClr val="58D68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1026" y="6808470"/>
            <a:ext cx="427673" cy="700683"/>
          </a:xfrm>
          <a:prstGeom prst="roundRect">
            <a:avLst>
              <a:gd name="adj" fmla="val 18228"/>
            </a:avLst>
          </a:prstGeom>
          <a:solidFill>
            <a:srgbClr val="58D68D"/>
          </a:solidFill>
          <a:ln/>
        </p:spPr>
      </p:sp>
      <p:sp>
        <p:nvSpPr>
          <p:cNvPr id="48" name="Text 46"/>
          <p:cNvSpPr/>
          <p:nvPr/>
        </p:nvSpPr>
        <p:spPr>
          <a:xfrm>
            <a:off x="724614" y="7058501"/>
            <a:ext cx="160377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8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69062" y="6915388"/>
            <a:ext cx="1336715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🟢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AES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69062" y="7120295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Rank 8</a:t>
            </a: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• </a:t>
            </a:r>
            <a:r>
              <a:rPr lang="en-US" sz="8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70.30%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69062" y="7276386"/>
            <a:ext cx="1286339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Lowest learnability; strongest resistance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8803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 Findings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04167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What the data reveals about cipher security and machine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23131"/>
            <a:ext cx="13042821" cy="33099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969538"/>
            <a:ext cx="2887266" cy="4145994"/>
          </a:xfrm>
          <a:prstGeom prst="roundRect">
            <a:avLst>
              <a:gd name="adj" fmla="val 6363"/>
            </a:avLst>
          </a:prstGeom>
          <a:solidFill>
            <a:srgbClr val="B5DA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3266956"/>
            <a:ext cx="255151" cy="2040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7087" y="3204210"/>
            <a:ext cx="201989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🌍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57087" y="3698200"/>
            <a:ext cx="201989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Universal Trend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57087" y="4200763"/>
            <a:ext cx="2019895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Bitwise accuracy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was highest in early rounds, then decreased as rounds increased.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57087" y="5917406"/>
            <a:ext cx="201989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All ciphers approached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50%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by Round 5.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186595" y="2969538"/>
            <a:ext cx="2887266" cy="4154567"/>
          </a:xfrm>
          <a:prstGeom prst="roundRect">
            <a:avLst>
              <a:gd name="adj" fmla="val 6363"/>
            </a:avLst>
          </a:prstGeom>
          <a:solidFill>
            <a:srgbClr val="B5DA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68" y="3266956"/>
            <a:ext cx="255151" cy="2040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9892" y="3204210"/>
            <a:ext cx="201989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📉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49892" y="3698200"/>
            <a:ext cx="2019895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Reduced-Round Vulnerability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849892" y="4519613"/>
            <a:ext cx="2019895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Reduced-round lightweight ciphers retain learnable statistical structure.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849892" y="5925979"/>
            <a:ext cx="201989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That structure remains exploitable by ML models.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579400" y="2969538"/>
            <a:ext cx="2887266" cy="3835718"/>
          </a:xfrm>
          <a:prstGeom prst="roundRect">
            <a:avLst>
              <a:gd name="adj" fmla="val 6363"/>
            </a:avLst>
          </a:prstGeom>
          <a:solidFill>
            <a:srgbClr val="B5DA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473" y="3266956"/>
            <a:ext cx="255151" cy="2040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2697" y="3204210"/>
            <a:ext cx="201989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✨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242697" y="3698200"/>
            <a:ext cx="201989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Round Impact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242697" y="4200763"/>
            <a:ext cx="2019895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Increasing rounds introduces stronger diffusion and confusion.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242697" y="5607129"/>
            <a:ext cx="201989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This progressively eliminates learnable structure.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0972205" y="2969538"/>
            <a:ext cx="2887266" cy="4154567"/>
          </a:xfrm>
          <a:prstGeom prst="roundRect">
            <a:avLst>
              <a:gd name="adj" fmla="val 6363"/>
            </a:avLst>
          </a:prstGeom>
          <a:solidFill>
            <a:srgbClr val="B5DAF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278" y="3266956"/>
            <a:ext cx="255151" cy="2040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35502" y="3204210"/>
            <a:ext cx="201989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635502" y="3698200"/>
            <a:ext cx="2019895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Hamming Distance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1635502" y="4519613"/>
            <a:ext cx="2019895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Hamming distance increased steadily across rounds for all ciphers.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11635502" y="5925979"/>
            <a:ext cx="201989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This confirms improved diffusion and security.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7019" y="831294"/>
            <a:ext cx="104929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190268"/>
            <a:ext cx="1210698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Key Insights into ML-Driven Reduced-Round Analysis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038469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Detecting Early-Stage Cryptographic Vulnerability via Neural Models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2604354"/>
            <a:ext cx="13042821" cy="31671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2820233"/>
            <a:ext cx="3137773" cy="2675692"/>
          </a:xfrm>
          <a:prstGeom prst="roundRect">
            <a:avLst>
              <a:gd name="adj" fmla="val 6485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986552" y="3012996"/>
            <a:ext cx="275224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🔍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6552" y="340411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Leakage Detection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6552" y="3803571"/>
            <a:ext cx="2752249" cy="119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Reduced-round ciphers expose statistical leakage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 detects what traditional analysis misses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95393" y="2820233"/>
            <a:ext cx="3137892" cy="2675692"/>
          </a:xfrm>
          <a:prstGeom prst="roundRect">
            <a:avLst>
              <a:gd name="adj" fmla="val 6485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4288155" y="3012996"/>
            <a:ext cx="275236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🏗️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88155" y="3404116"/>
            <a:ext cx="275236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Architectural Susceptibility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88155" y="4104799"/>
            <a:ext cx="2752368" cy="119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Design choices directly impact learnability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Lightweight ciphers show higher vulnerability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97115" y="2820233"/>
            <a:ext cx="3137773" cy="2675692"/>
          </a:xfrm>
          <a:prstGeom prst="roundRect">
            <a:avLst>
              <a:gd name="adj" fmla="val 6485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877" y="3012996"/>
            <a:ext cx="275224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⚡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877" y="340411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Iterative Strength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89877" y="3803571"/>
            <a:ext cx="2752249" cy="119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Increased rounds strengthen cipher security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Diffusion progressively eliminates patterns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698718" y="2820233"/>
            <a:ext cx="3137892" cy="2675692"/>
          </a:xfrm>
          <a:prstGeom prst="roundRect">
            <a:avLst>
              <a:gd name="adj" fmla="val 6485"/>
            </a:avLst>
          </a:prstGeom>
          <a:solidFill>
            <a:srgbClr val="CEE6FD"/>
          </a:solidFill>
          <a:ln/>
        </p:spPr>
      </p:sp>
      <p:sp>
        <p:nvSpPr>
          <p:cNvPr id="20" name="Text 18"/>
          <p:cNvSpPr/>
          <p:nvPr/>
        </p:nvSpPr>
        <p:spPr>
          <a:xfrm>
            <a:off x="10891480" y="3012996"/>
            <a:ext cx="275236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🧠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891480" y="340411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Model Superiority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891480" y="3803571"/>
            <a:ext cx="2752368" cy="119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MLP and CNN demonstrate effectiveness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Superior non-linear pattern extraction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3790" y="5659755"/>
            <a:ext cx="13042821" cy="1803916"/>
          </a:xfrm>
          <a:prstGeom prst="roundRect">
            <a:avLst>
              <a:gd name="adj" fmla="val 9619"/>
            </a:avLst>
          </a:prstGeom>
          <a:solidFill>
            <a:srgbClr val="CEE6FD"/>
          </a:solidFill>
          <a:ln/>
        </p:spPr>
      </p:sp>
      <p:sp>
        <p:nvSpPr>
          <p:cNvPr id="24" name="Text 22"/>
          <p:cNvSpPr/>
          <p:nvPr/>
        </p:nvSpPr>
        <p:spPr>
          <a:xfrm>
            <a:off x="986552" y="5852517"/>
            <a:ext cx="12657296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🎯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86552" y="62436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Strategic Takeaway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6552" y="6643092"/>
            <a:ext cx="12657296" cy="62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 serves as powerful cryptanalysis tool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Effective tool for early-round behavior analysis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2825"/>
            <a:ext cx="7273885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Conclusion: What We Learned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698188"/>
            <a:ext cx="3122890" cy="3758208"/>
          </a:xfrm>
          <a:prstGeom prst="roundRect">
            <a:avLst>
              <a:gd name="adj" fmla="val 5883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997863" y="19022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🔬</a:t>
            </a: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The Experiment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7863" y="2331244"/>
            <a:ext cx="2714744" cy="161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Tested 8 ciphers with 5 machine learning models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Evaluated how reduced rounds affect cipher 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00393" y="1698188"/>
            <a:ext cx="3122890" cy="3758208"/>
          </a:xfrm>
          <a:prstGeom prst="roundRect">
            <a:avLst>
              <a:gd name="adj" fmla="val 5883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4304467" y="19022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📊</a:t>
            </a: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The Discovery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04467" y="2331244"/>
            <a:ext cx="2714744" cy="230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Reduced-round ciphers leak learnable patterns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More rounds = stronger diffusion = better 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Accuracy drops to 50% by Round 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06997" y="1698188"/>
            <a:ext cx="3122890" cy="3758208"/>
          </a:xfrm>
          <a:prstGeom prst="roundRect">
            <a:avLst>
              <a:gd name="adj" fmla="val 5883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7611070" y="19022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🏆</a:t>
            </a: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The Winners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11070" y="2331244"/>
            <a:ext cx="2714744" cy="230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MLP: Highest accuracy, but slower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Logistic Regression &amp; Random Forest: Fast and reliable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CNN: Struggled across all tests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13601" y="1698188"/>
            <a:ext cx="3123009" cy="3758208"/>
          </a:xfrm>
          <a:prstGeom prst="roundRect">
            <a:avLst>
              <a:gd name="adj" fmla="val 5883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17674" y="19022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💡</a:t>
            </a: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The Takeaway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17674" y="2331244"/>
            <a:ext cx="2714863" cy="2921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ML-based cryptanalysis reveals cipher weaknesses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Reduced-round analysis is a powerful security evaluation tool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Round count directly impacts resistance to ML attacks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5640110"/>
            <a:ext cx="13042821" cy="1896547"/>
          </a:xfrm>
          <a:prstGeom prst="roundRect">
            <a:avLst>
              <a:gd name="adj" fmla="val 9688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997863" y="584418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🎯</a:t>
            </a: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The Bottom 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7863" y="6273165"/>
            <a:ext cx="12634674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Increasing cipher rounds = stronger defense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Machine learning is an effective cryptanalysis method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Design choices matter for 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733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Thank You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82226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Thank you for your attention and interest in our research on machine learning-based cryptanalysis of reduced-round ciphers.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5984438"/>
            <a:ext cx="6407944" cy="1306949"/>
          </a:xfrm>
          <a:prstGeom prst="roundRect">
            <a:avLst>
              <a:gd name="adj" fmla="val 15620"/>
            </a:avLst>
          </a:prstGeom>
          <a:solidFill>
            <a:srgbClr val="6C5CE7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6211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🤔</a:t>
            </a: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Questions?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0604" y="670167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We're happy to discuss our findings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28548" y="5984438"/>
            <a:ext cx="6408063" cy="1306949"/>
          </a:xfrm>
          <a:prstGeom prst="roundRect">
            <a:avLst>
              <a:gd name="adj" fmla="val 15620"/>
            </a:avLst>
          </a:prstGeom>
          <a:solidFill>
            <a:srgbClr val="00B894"/>
          </a:solidFill>
          <a:ln/>
        </p:spPr>
      </p:sp>
      <p:sp>
        <p:nvSpPr>
          <p:cNvPr id="9" name="Text 6"/>
          <p:cNvSpPr/>
          <p:nvPr/>
        </p:nvSpPr>
        <p:spPr>
          <a:xfrm>
            <a:off x="7655362" y="6211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📧</a:t>
            </a: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Contact Us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55362" y="670167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Reach out for more information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2110</Words>
  <Application>Microsoft Office PowerPoint</Application>
  <PresentationFormat>Custom</PresentationFormat>
  <Paragraphs>406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SALONI NARANG</cp:lastModifiedBy>
  <cp:revision>4</cp:revision>
  <dcterms:created xsi:type="dcterms:W3CDTF">2026-03-31T09:49:54Z</dcterms:created>
  <dcterms:modified xsi:type="dcterms:W3CDTF">2026-03-31T10:41:26Z</dcterms:modified>
</cp:coreProperties>
</file>